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33" r:id="rId3"/>
    <p:sldId id="337" r:id="rId4"/>
    <p:sldId id="339" r:id="rId5"/>
    <p:sldId id="340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26" r:id="rId15"/>
    <p:sldId id="349" r:id="rId16"/>
    <p:sldId id="331" r:id="rId17"/>
    <p:sldId id="332" r:id="rId18"/>
    <p:sldId id="329" r:id="rId19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gy(张广源）" initials="z" lastIdx="3" clrIdx="0">
    <p:extLst>
      <p:ext uri="{19B8F6BF-5375-455C-9EA6-DF929625EA0E}">
        <p15:presenceInfo xmlns:p15="http://schemas.microsoft.com/office/powerpoint/2012/main" userId="S-1-5-21-343506679-1218741687-2231304299-69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54" autoAdjust="0"/>
  </p:normalViewPr>
  <p:slideViewPr>
    <p:cSldViewPr snapToGrid="0">
      <p:cViewPr varScale="1">
        <p:scale>
          <a:sx n="70" d="100"/>
          <a:sy n="70" d="100"/>
        </p:scale>
        <p:origin x="404" y="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02T12:55:09.292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02T12:55:09.292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54BA4279-2FB7-49D7-9C7F-5ED78B55C6A5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7BEB8B3-A025-4251-8F59-5F37E8C626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63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BEB8B3-A025-4251-8F59-5F37E8C6264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28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BEB8B3-A025-4251-8F59-5F37E8C6264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076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BEB8B3-A025-4251-8F59-5F37E8C6264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93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BEB8B3-A025-4251-8F59-5F37E8C6264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009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E4C7-4FFC-490F-90D8-5F2CE3F214A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061F-E3BD-4CBF-89A1-7D601CC31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427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E4C7-4FFC-490F-90D8-5F2CE3F214A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061F-E3BD-4CBF-89A1-7D601CC31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95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E4C7-4FFC-490F-90D8-5F2CE3F214A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061F-E3BD-4CBF-89A1-7D601CC31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036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E4C7-4FFC-490F-90D8-5F2CE3F214A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061F-E3BD-4CBF-89A1-7D601CC31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971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E4C7-4FFC-490F-90D8-5F2CE3F214A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061F-E3BD-4CBF-89A1-7D601CC31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50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E4C7-4FFC-490F-90D8-5F2CE3F214A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061F-E3BD-4CBF-89A1-7D601CC31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0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E4C7-4FFC-490F-90D8-5F2CE3F214A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061F-E3BD-4CBF-89A1-7D601CC31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072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E4C7-4FFC-490F-90D8-5F2CE3F214A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061F-E3BD-4CBF-89A1-7D601CC31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66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E4C7-4FFC-490F-90D8-5F2CE3F214A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061F-E3BD-4CBF-89A1-7D601CC31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2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E4C7-4FFC-490F-90D8-5F2CE3F214A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061F-E3BD-4CBF-89A1-7D601CC31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25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E4C7-4FFC-490F-90D8-5F2CE3F214A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061F-E3BD-4CBF-89A1-7D601CC31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895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0E4C7-4FFC-490F-90D8-5F2CE3F214A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B061F-E3BD-4CBF-89A1-7D601CC3195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email"/>
          <a:stretch>
            <a:fillRect/>
          </a:stretch>
        </p:blipFill>
        <p:spPr>
          <a:xfrm>
            <a:off x="9237876" y="365125"/>
            <a:ext cx="2536156" cy="493819"/>
          </a:xfrm>
          <a:prstGeom prst="rect">
            <a:avLst/>
          </a:prstGeom>
        </p:spPr>
      </p:pic>
      <p:sp>
        <p:nvSpPr>
          <p:cNvPr id="8" name="TextBox 11"/>
          <p:cNvSpPr txBox="1"/>
          <p:nvPr userDrawn="1"/>
        </p:nvSpPr>
        <p:spPr>
          <a:xfrm>
            <a:off x="9718431" y="804651"/>
            <a:ext cx="2188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17899"/>
                </a:solidFill>
              </a:rPr>
              <a:t> </a:t>
            </a:r>
            <a:r>
              <a:rPr lang="en-US" sz="1200" b="1" dirty="0">
                <a:solidFill>
                  <a:srgbClr val="2D799B"/>
                </a:solidFill>
              </a:rPr>
              <a:t>Micro Channel Heat Exchanger </a:t>
            </a:r>
          </a:p>
        </p:txBody>
      </p:sp>
    </p:spTree>
    <p:extLst>
      <p:ext uri="{BB962C8B-B14F-4D97-AF65-F5344CB8AC3E}">
        <p14:creationId xmlns:p14="http://schemas.microsoft.com/office/powerpoint/2010/main" val="4106496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comments" Target="../comments/comment1.xml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3959"/>
            <a:ext cx="12192000" cy="217891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746272" y="881070"/>
            <a:ext cx="49401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</a:t>
            </a:r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体搭建信息输入</a:t>
            </a:r>
            <a:endParaRPr lang="en-US" altLang="zh-CN" sz="4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0737" y="1846906"/>
            <a:ext cx="44090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①</a:t>
            </a:r>
            <a:r>
              <a:rPr lang="en-US" altLang="zh-CN" b="1" dirty="0" smtClean="0"/>
              <a:t>Boundary</a:t>
            </a:r>
            <a:r>
              <a:rPr lang="zh-CN" altLang="en-US" b="1" dirty="0" smtClean="0"/>
              <a:t>输入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 smtClean="0"/>
              <a:t>②</a:t>
            </a:r>
            <a:r>
              <a:rPr lang="en-US" altLang="zh-CN" b="1" dirty="0" smtClean="0"/>
              <a:t>correlation</a:t>
            </a:r>
            <a:r>
              <a:rPr lang="zh-CN" altLang="en-US" b="1" dirty="0" smtClean="0"/>
              <a:t>输入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 smtClean="0"/>
              <a:t>③</a:t>
            </a:r>
            <a:r>
              <a:rPr lang="en-US" altLang="zh-CN" b="1" dirty="0" err="1" smtClean="0"/>
              <a:t>Tube&amp;Fin</a:t>
            </a:r>
            <a:r>
              <a:rPr lang="zh-CN" altLang="en-US" b="1" dirty="0" smtClean="0"/>
              <a:t>选型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/>
              <a:t>④</a:t>
            </a:r>
            <a:r>
              <a:rPr lang="zh-CN" altLang="en-US" b="1" dirty="0" smtClean="0"/>
              <a:t>期望输出表单</a:t>
            </a:r>
            <a:endParaRPr lang="en-US" altLang="zh-CN" b="1" dirty="0" smtClean="0"/>
          </a:p>
        </p:txBody>
      </p:sp>
    </p:spTree>
    <p:extLst>
      <p:ext uri="{BB962C8B-B14F-4D97-AF65-F5344CB8AC3E}">
        <p14:creationId xmlns:p14="http://schemas.microsoft.com/office/powerpoint/2010/main" val="1567158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27466" y="551601"/>
            <a:ext cx="58457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空气侧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Boundary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，蒸发器冷凝器通用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69" y="1338225"/>
            <a:ext cx="3689633" cy="3904927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3286408" y="2393865"/>
            <a:ext cx="1448554" cy="691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734962" y="2232609"/>
            <a:ext cx="2609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ctr"/>
            <a:r>
              <a:rPr lang="en-US" altLang="zh-CN" dirty="0"/>
              <a:t>Inlet air temperature (4)</a:t>
            </a:r>
            <a:r>
              <a:rPr lang="en-US" altLang="zh-CN" baseline="30000" dirty="0"/>
              <a:t>★</a:t>
            </a:r>
            <a:endParaRPr lang="en-US" altLang="zh-CN" dirty="0">
              <a:latin typeface="宋体" panose="02010600030101010101" pitchFamily="2" charset="-122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3286409" y="2967372"/>
            <a:ext cx="144855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734962" y="2786607"/>
            <a:ext cx="2559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Air relative humidity(5) </a:t>
            </a:r>
            <a:r>
              <a:rPr lang="en-US" altLang="zh-CN" baseline="30000" dirty="0"/>
              <a:t>★</a:t>
            </a:r>
            <a:endParaRPr lang="en-US" altLang="zh-CN" dirty="0">
              <a:latin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7" name="右箭头 16"/>
          <p:cNvSpPr/>
          <p:nvPr/>
        </p:nvSpPr>
        <p:spPr>
          <a:xfrm>
            <a:off x="3286408" y="3567984"/>
            <a:ext cx="144855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734962" y="3413064"/>
            <a:ext cx="1325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Air flow(6)</a:t>
            </a:r>
            <a:r>
              <a:rPr lang="en-US" altLang="zh-CN" baseline="30000" dirty="0"/>
              <a:t>★</a:t>
            </a:r>
            <a:endParaRPr lang="en-US" altLang="zh-CN" dirty="0">
              <a:latin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69" y="5380388"/>
            <a:ext cx="4668812" cy="118911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825497" y="4544840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右图为空气侧工况输入，蒸发器冷凝器通用</a:t>
            </a:r>
            <a:endParaRPr lang="zh-CN" altLang="en-US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333" y="5375837"/>
            <a:ext cx="5485714" cy="119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499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959" y="524935"/>
            <a:ext cx="41640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冷媒侧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Boundary(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冷凝器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3" y="1112413"/>
            <a:ext cx="4164413" cy="4346827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80821" y="5585053"/>
            <a:ext cx="103561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如图：蒸发器冷凝器冷媒侧可各选五种工况条件（</a:t>
            </a:r>
            <a:r>
              <a:rPr lang="en-US" altLang="zh-CN" dirty="0" smtClean="0">
                <a:solidFill>
                  <a:srgbClr val="FF0000"/>
                </a:solidFill>
              </a:rPr>
              <a:t>E&amp;C</a:t>
            </a:r>
            <a:r>
              <a:rPr lang="zh-CN" altLang="en-US" dirty="0" smtClean="0">
                <a:solidFill>
                  <a:srgbClr val="FF0000"/>
                </a:solidFill>
              </a:rPr>
              <a:t>代表蒸发器冷凝器都适用</a:t>
            </a:r>
            <a:r>
              <a:rPr lang="zh-CN" altLang="en-US" dirty="0" smtClean="0"/>
              <a:t>），</a:t>
            </a:r>
            <a:endParaRPr lang="en-US" altLang="zh-CN" dirty="0" smtClean="0"/>
          </a:p>
          <a:p>
            <a:r>
              <a:rPr lang="zh-CN" altLang="en-US" dirty="0" smtClean="0"/>
              <a:t>根据客户输入工况信息进行</a:t>
            </a:r>
            <a:r>
              <a:rPr lang="zh-CN" altLang="en-US" dirty="0" smtClean="0">
                <a:solidFill>
                  <a:srgbClr val="FF0000"/>
                </a:solidFill>
              </a:rPr>
              <a:t>条件</a:t>
            </a:r>
            <a:r>
              <a:rPr lang="zh-CN" altLang="en-US" dirty="0" smtClean="0"/>
              <a:t>和</a:t>
            </a:r>
            <a:r>
              <a:rPr lang="zh-CN" altLang="en-US" dirty="0" smtClean="0">
                <a:solidFill>
                  <a:srgbClr val="FF0000"/>
                </a:solidFill>
              </a:rPr>
              <a:t>冷媒</a:t>
            </a:r>
            <a:r>
              <a:rPr lang="zh-CN" altLang="en-US" dirty="0" smtClean="0"/>
              <a:t>的选择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535" y="1276812"/>
            <a:ext cx="3743248" cy="2498484"/>
          </a:xfrm>
          <a:prstGeom prst="rect">
            <a:avLst/>
          </a:prstGeom>
        </p:spPr>
      </p:pic>
      <p:sp>
        <p:nvSpPr>
          <p:cNvPr id="16" name="右箭头 15"/>
          <p:cNvSpPr/>
          <p:nvPr/>
        </p:nvSpPr>
        <p:spPr>
          <a:xfrm flipV="1">
            <a:off x="3440317" y="2507809"/>
            <a:ext cx="2494228" cy="633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535" y="4082660"/>
            <a:ext cx="3743248" cy="135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31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959" y="524935"/>
            <a:ext cx="41640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冷媒侧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Boundary(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冷凝器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01" y="4642660"/>
            <a:ext cx="6047619" cy="186666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71580" y="5495453"/>
            <a:ext cx="2706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客户输入冷媒</a:t>
            </a:r>
            <a:r>
              <a:rPr lang="zh-CN" altLang="en-US" dirty="0"/>
              <a:t>侧</a:t>
            </a:r>
            <a:r>
              <a:rPr lang="zh-CN" altLang="en-US" dirty="0" smtClean="0"/>
              <a:t>工况信息</a:t>
            </a:r>
            <a:endParaRPr lang="zh-CN" altLang="en-US" dirty="0"/>
          </a:p>
        </p:txBody>
      </p:sp>
      <p:sp>
        <p:nvSpPr>
          <p:cNvPr id="8" name="右箭头 7"/>
          <p:cNvSpPr/>
          <p:nvPr/>
        </p:nvSpPr>
        <p:spPr>
          <a:xfrm>
            <a:off x="2408223" y="1267508"/>
            <a:ext cx="4698748" cy="3259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233718" y="1267508"/>
            <a:ext cx="37802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Entering refrigerant temperature (1)</a:t>
            </a:r>
            <a:r>
              <a:rPr lang="en-US" altLang="zh-CN" baseline="30000" dirty="0"/>
              <a:t>★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en-US" altLang="zh-CN" dirty="0"/>
              <a:t>Entering refrigerant abs. pressure(1) </a:t>
            </a:r>
            <a:r>
              <a:rPr lang="en-US" altLang="zh-CN" baseline="30000" dirty="0"/>
              <a:t>★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en-US" altLang="zh-CN" dirty="0"/>
              <a:t>Refrigerant mass flow rate(1)</a:t>
            </a:r>
            <a:r>
              <a:rPr lang="en-US" altLang="zh-CN" baseline="30000" dirty="0"/>
              <a:t>★</a:t>
            </a:r>
            <a:endParaRPr lang="en-US" altLang="zh-CN" dirty="0">
              <a:latin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329839"/>
            <a:ext cx="6427961" cy="1594812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764839" y="403863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模拟软件对应</a:t>
            </a:r>
            <a:endParaRPr lang="zh-CN" altLang="en-US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65" y="1296080"/>
            <a:ext cx="3961905" cy="2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3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959" y="524935"/>
            <a:ext cx="41640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冷媒侧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Boundary(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冷凝器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01" y="4642660"/>
            <a:ext cx="6047619" cy="186666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71580" y="5495453"/>
            <a:ext cx="2706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客户输入冷媒侧工况信息</a:t>
            </a:r>
            <a:endParaRPr lang="zh-CN" altLang="en-US" dirty="0"/>
          </a:p>
        </p:txBody>
      </p:sp>
      <p:sp>
        <p:nvSpPr>
          <p:cNvPr id="8" name="右箭头 7"/>
          <p:cNvSpPr/>
          <p:nvPr/>
        </p:nvSpPr>
        <p:spPr>
          <a:xfrm>
            <a:off x="2435384" y="1638701"/>
            <a:ext cx="4698748" cy="3259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233718" y="1267508"/>
            <a:ext cx="37802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Entering </a:t>
            </a:r>
            <a:r>
              <a:rPr lang="en-US" altLang="zh-CN" dirty="0"/>
              <a:t>refrigerant abs. pressure(1) </a:t>
            </a:r>
            <a:r>
              <a:rPr lang="en-US" altLang="zh-CN" baseline="30000" dirty="0"/>
              <a:t>★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en-US" altLang="zh-CN" dirty="0"/>
              <a:t>Refrigerant mass flow rate(1)</a:t>
            </a:r>
            <a:r>
              <a:rPr lang="en-US" altLang="zh-CN" baseline="30000" dirty="0"/>
              <a:t>★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en-US" altLang="zh-CN" dirty="0" smtClean="0"/>
              <a:t>Quality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099" y="2719212"/>
            <a:ext cx="6584139" cy="120543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04911" y="414648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模拟软件对应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67" y="1324651"/>
            <a:ext cx="3914286" cy="2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77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959" y="524935"/>
            <a:ext cx="41640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冷媒侧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Boundary(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冷凝器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01" y="4642660"/>
            <a:ext cx="6047619" cy="186666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71580" y="5495453"/>
            <a:ext cx="2706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客户输入冷媒侧工况信息</a:t>
            </a:r>
            <a:endParaRPr lang="zh-CN" altLang="en-US" dirty="0"/>
          </a:p>
        </p:txBody>
      </p:sp>
      <p:sp>
        <p:nvSpPr>
          <p:cNvPr id="8" name="右箭头 7"/>
          <p:cNvSpPr/>
          <p:nvPr/>
        </p:nvSpPr>
        <p:spPr>
          <a:xfrm>
            <a:off x="3349784" y="1903471"/>
            <a:ext cx="3186818" cy="2873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233718" y="1267508"/>
            <a:ext cx="37802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Entering </a:t>
            </a:r>
            <a:r>
              <a:rPr lang="en-US" altLang="zh-CN" dirty="0"/>
              <a:t>refrigerant abs. pressure(1) </a:t>
            </a:r>
            <a:r>
              <a:rPr lang="en-US" altLang="zh-CN" baseline="30000" dirty="0"/>
              <a:t>★</a:t>
            </a:r>
            <a:endParaRPr lang="en-US" altLang="zh-CN" dirty="0">
              <a:latin typeface="宋体" panose="02010600030101010101" pitchFamily="2" charset="-122"/>
            </a:endParaRPr>
          </a:p>
          <a:p>
            <a:pPr fontAlgn="ctr"/>
            <a:r>
              <a:rPr lang="en-US" altLang="zh-CN" dirty="0"/>
              <a:t>Entering refrigerant temperature (1)</a:t>
            </a:r>
            <a:r>
              <a:rPr lang="en-US" altLang="zh-CN" baseline="30000" dirty="0"/>
              <a:t>★</a:t>
            </a:r>
            <a:endParaRPr lang="en-US" altLang="zh-CN" dirty="0">
              <a:latin typeface="宋体" panose="02010600030101010101" pitchFamily="2" charset="-122"/>
            </a:endParaRPr>
          </a:p>
          <a:p>
            <a:pPr fontAlgn="ctr"/>
            <a:r>
              <a:rPr lang="en-US" altLang="zh-CN" dirty="0"/>
              <a:t>Leaving refrigerant </a:t>
            </a:r>
            <a:r>
              <a:rPr lang="en-US" altLang="zh-CN" dirty="0" err="1"/>
              <a:t>subcooling</a:t>
            </a:r>
            <a:r>
              <a:rPr lang="en-US" altLang="zh-CN" dirty="0"/>
              <a:t> (3)</a:t>
            </a:r>
            <a:r>
              <a:rPr lang="en-US" altLang="zh-CN" baseline="30000" dirty="0"/>
              <a:t>★</a:t>
            </a:r>
            <a:endParaRPr lang="en-US" altLang="zh-CN" dirty="0">
              <a:latin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04911" y="414648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模拟软件对应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837" y="2219745"/>
            <a:ext cx="5591473" cy="191946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44" y="1267508"/>
            <a:ext cx="3923809" cy="2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03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959" y="524935"/>
            <a:ext cx="41640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冷媒侧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Boundary(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冷凝器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01" y="4642660"/>
            <a:ext cx="6047619" cy="186666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71580" y="5495453"/>
            <a:ext cx="2706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客户输入冷媒侧工况信息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233718" y="1267508"/>
            <a:ext cx="30561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ctr"/>
            <a:r>
              <a:rPr lang="en-US" altLang="zh-CN" dirty="0"/>
              <a:t>Condensing temperature(2) </a:t>
            </a:r>
            <a:r>
              <a:rPr lang="en-US" altLang="zh-CN" baseline="30000" dirty="0" smtClean="0"/>
              <a:t>★</a:t>
            </a:r>
          </a:p>
          <a:p>
            <a:pPr fontAlgn="ctr"/>
            <a:r>
              <a:rPr lang="en-US" altLang="zh-CN" dirty="0"/>
              <a:t>SH=</a:t>
            </a:r>
            <a:r>
              <a:rPr lang="en-US" altLang="zh-CN" dirty="0" err="1"/>
              <a:t>InletT-CondT</a:t>
            </a:r>
            <a:endParaRPr lang="en-US" altLang="zh-CN" dirty="0"/>
          </a:p>
          <a:p>
            <a:pPr fontAlgn="ctr"/>
            <a:r>
              <a:rPr lang="en-US" altLang="zh-CN" dirty="0" smtClean="0"/>
              <a:t>Refrigerant </a:t>
            </a:r>
            <a:r>
              <a:rPr lang="en-US" altLang="zh-CN" dirty="0"/>
              <a:t>mass flow rate(1)</a:t>
            </a:r>
            <a:r>
              <a:rPr lang="en-US" altLang="zh-CN" baseline="30000" dirty="0"/>
              <a:t>★</a:t>
            </a:r>
            <a:endParaRPr lang="en-US" altLang="zh-CN" dirty="0">
              <a:latin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04911" y="414648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模拟软件对应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313" y="2485084"/>
            <a:ext cx="6327015" cy="1561905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V="1">
            <a:off x="4074059" y="2007063"/>
            <a:ext cx="3159659" cy="1060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48" y="1148485"/>
            <a:ext cx="3961905" cy="2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1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959" y="524935"/>
            <a:ext cx="41640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冷媒侧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Boundary(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冷凝器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01" y="4642660"/>
            <a:ext cx="6047619" cy="186666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71580" y="5495453"/>
            <a:ext cx="2706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客户输入冷媒侧工况信息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233718" y="1267508"/>
            <a:ext cx="34720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ctr"/>
            <a:r>
              <a:rPr lang="en-US" altLang="zh-CN" dirty="0"/>
              <a:t>Condensing temperature(2) </a:t>
            </a:r>
            <a:r>
              <a:rPr lang="en-US" altLang="zh-CN" baseline="30000" dirty="0" smtClean="0"/>
              <a:t>★</a:t>
            </a:r>
          </a:p>
          <a:p>
            <a:pPr fontAlgn="ctr"/>
            <a:r>
              <a:rPr lang="en-US" altLang="zh-CN" dirty="0" smtClean="0"/>
              <a:t>SH=</a:t>
            </a:r>
            <a:r>
              <a:rPr lang="en-US" altLang="zh-CN" dirty="0" err="1" smtClean="0"/>
              <a:t>InletT-CondT</a:t>
            </a:r>
            <a:endParaRPr lang="en-US" altLang="zh-CN" dirty="0" smtClean="0"/>
          </a:p>
          <a:p>
            <a:pPr fontAlgn="ctr"/>
            <a:r>
              <a:rPr lang="en-US" altLang="zh-CN" dirty="0"/>
              <a:t>Leaving refrigerant </a:t>
            </a:r>
            <a:r>
              <a:rPr lang="en-US" altLang="zh-CN" dirty="0" err="1"/>
              <a:t>subcooling</a:t>
            </a:r>
            <a:r>
              <a:rPr lang="en-US" altLang="zh-CN" dirty="0"/>
              <a:t> (3)</a:t>
            </a:r>
            <a:r>
              <a:rPr lang="en-US" altLang="zh-CN" baseline="30000" dirty="0"/>
              <a:t>★</a:t>
            </a:r>
            <a:endParaRPr lang="en-US" altLang="zh-CN" dirty="0">
              <a:latin typeface="宋体" panose="02010600030101010101" pitchFamily="2" charset="-122"/>
            </a:endParaRPr>
          </a:p>
          <a:p>
            <a:pPr fontAlgn="ctr"/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7604911" y="414648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模拟软件对应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535" y="2252338"/>
            <a:ext cx="5863190" cy="192689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1" y="1409084"/>
            <a:ext cx="3904762" cy="2628571"/>
          </a:xfrm>
          <a:prstGeom prst="rect">
            <a:avLst/>
          </a:prstGeom>
        </p:spPr>
      </p:pic>
      <p:cxnSp>
        <p:nvCxnSpPr>
          <p:cNvPr id="13" name="直接箭头连接符 12"/>
          <p:cNvCxnSpPr>
            <a:endCxn id="10" idx="1"/>
          </p:cNvCxnSpPr>
          <p:nvPr/>
        </p:nvCxnSpPr>
        <p:spPr>
          <a:xfrm flipV="1">
            <a:off x="4363770" y="1867673"/>
            <a:ext cx="2869948" cy="1681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35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959" y="524935"/>
            <a:ext cx="41640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冷媒侧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Boundary(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蒸发器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105717"/>
              </p:ext>
            </p:extLst>
          </p:nvPr>
        </p:nvGraphicFramePr>
        <p:xfrm>
          <a:off x="660903" y="3847722"/>
          <a:ext cx="3994818" cy="2622449"/>
        </p:xfrm>
        <a:graphic>
          <a:graphicData uri="http://schemas.openxmlformats.org/drawingml/2006/table">
            <a:tbl>
              <a:tblPr/>
              <a:tblGrid>
                <a:gridCol w="3218084"/>
                <a:gridCol w="776734"/>
              </a:tblGrid>
              <a:tr h="4164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abs. pressure before valve (3)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psia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7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temperature before valve (3)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 dirty="0" err="1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 dirty="0" err="1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lang="en-US" sz="1200" b="0" i="0" u="none" strike="noStrike" dirty="0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</a:t>
                      </a:r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subcooling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before valve (3)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Leaving refrigerant abs. pressure (8) 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psia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Leaving refrigerant temperature (8) 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Expected Heat rejection capacity</a:t>
                      </a:r>
                      <a:r>
                        <a:rPr lang="en-US" sz="1200" b="0" i="0" u="none" strike="noStrike" baseline="300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         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Btu/h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mass flow rate</a:t>
                      </a:r>
                      <a:r>
                        <a:rPr lang="en-US" sz="1200" b="0" i="0" u="none" strike="noStrike" baseline="300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lbm/h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Expected EER/COP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Leaving refrigerant superheat </a:t>
                      </a:r>
                      <a:r>
                        <a:rPr lang="en-US" sz="1200" b="0" i="0" u="none" strike="noStrike" baseline="3000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side pressure drop limit</a:t>
                      </a:r>
                      <a:r>
                        <a:rPr lang="en-US" sz="1100" b="0" i="0" u="none" strike="noStrike" baseline="300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psid</a:t>
                      </a:r>
                      <a:endParaRPr lang="en-US" sz="1200" b="0" i="0" u="none" strike="noStrike" dirty="0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48" y="1054988"/>
            <a:ext cx="3961905" cy="264761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720" y="2235940"/>
            <a:ext cx="7005143" cy="146666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32903" y="53959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客户输入冷媒侧工况信息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232903" y="3959824"/>
            <a:ext cx="3024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Inlet P=</a:t>
            </a:r>
            <a:r>
              <a:rPr lang="en-US" altLang="zh-CN" dirty="0" err="1" smtClean="0"/>
              <a:t>OutletP+Pressure</a:t>
            </a:r>
            <a:r>
              <a:rPr lang="en-US" altLang="zh-CN" dirty="0" smtClean="0"/>
              <a:t> drop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232903" y="4456965"/>
            <a:ext cx="332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Inlet T=</a:t>
            </a:r>
            <a:r>
              <a:rPr lang="en-US" altLang="zh-CN" dirty="0" err="1" smtClean="0"/>
              <a:t>InletP</a:t>
            </a:r>
            <a:r>
              <a:rPr lang="zh-CN" altLang="en-US" dirty="0" smtClean="0"/>
              <a:t>对应冷</a:t>
            </a:r>
            <a:r>
              <a:rPr lang="zh-CN" altLang="en-US" dirty="0"/>
              <a:t>媒</a:t>
            </a:r>
            <a:r>
              <a:rPr lang="zh-CN" altLang="en-US" b="1" dirty="0" smtClean="0"/>
              <a:t>饱和温度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729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959" y="524935"/>
            <a:ext cx="41640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冷媒侧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Boundary(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蒸发器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218628"/>
              </p:ext>
            </p:extLst>
          </p:nvPr>
        </p:nvGraphicFramePr>
        <p:xfrm>
          <a:off x="581309" y="3847722"/>
          <a:ext cx="4074412" cy="2546401"/>
        </p:xfrm>
        <a:graphic>
          <a:graphicData uri="http://schemas.openxmlformats.org/drawingml/2006/table">
            <a:tbl>
              <a:tblPr/>
              <a:tblGrid>
                <a:gridCol w="3297678"/>
                <a:gridCol w="776734"/>
              </a:tblGrid>
              <a:tr h="4164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abs. pressure before valve (3)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psia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7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temperature before valve (3)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</a:t>
                      </a:r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subcooling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before valve (3)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Leaving refrigerant abs. pressure (8) </a:t>
                      </a:r>
                      <a:r>
                        <a:rPr lang="en-US" sz="1100" b="0" i="0" u="none" strike="noStrike" baseline="300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psia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Leaving refrigerant temperature (8) </a:t>
                      </a:r>
                      <a:r>
                        <a:rPr lang="en-US" sz="1100" b="0" i="0" u="none" strike="noStrike" baseline="300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Expected Heat rejection capacity</a:t>
                      </a:r>
                      <a:r>
                        <a:rPr lang="en-US" sz="1200" b="0" i="0" u="none" strike="noStrike" baseline="300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          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Btu/h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mass flow rate</a:t>
                      </a:r>
                      <a:r>
                        <a:rPr lang="en-US" sz="1200" b="0" i="0" u="none" strike="noStrike" baseline="300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lbm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/h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Expected EER/COP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Leaving refrigerant superheat </a:t>
                      </a:r>
                      <a:r>
                        <a:rPr lang="en-US" sz="1200" b="0" i="0" u="none" strike="noStrike" baseline="3000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side pressure drop limit</a:t>
                      </a:r>
                      <a:r>
                        <a:rPr lang="en-US" sz="1100" b="0" i="0" u="none" strike="noStrike" baseline="300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psid</a:t>
                      </a:r>
                      <a:endParaRPr lang="en-US" sz="1200" b="0" i="0" u="none" strike="noStrike" dirty="0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015620" y="532343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客户输入冷媒侧工况信息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01" y="1035940"/>
            <a:ext cx="3980952" cy="266666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032" y="2493609"/>
            <a:ext cx="6590922" cy="116871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015620" y="4308215"/>
            <a:ext cx="3024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Inlet P=</a:t>
            </a:r>
            <a:r>
              <a:rPr lang="en-US" altLang="zh-CN" dirty="0" err="1" smtClean="0"/>
              <a:t>OutletP+Pressure</a:t>
            </a:r>
            <a:r>
              <a:rPr lang="en-US" altLang="zh-CN" dirty="0" smtClean="0"/>
              <a:t> drop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255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959" y="524935"/>
            <a:ext cx="41640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冷媒侧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Boundary(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蒸发器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021994"/>
              </p:ext>
            </p:extLst>
          </p:nvPr>
        </p:nvGraphicFramePr>
        <p:xfrm>
          <a:off x="581309" y="3847722"/>
          <a:ext cx="4074412" cy="2546401"/>
        </p:xfrm>
        <a:graphic>
          <a:graphicData uri="http://schemas.openxmlformats.org/drawingml/2006/table">
            <a:tbl>
              <a:tblPr/>
              <a:tblGrid>
                <a:gridCol w="3297678"/>
                <a:gridCol w="776734"/>
              </a:tblGrid>
              <a:tr h="4164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abs. pressure before valve (3)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psia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7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temperature before valve (3)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</a:t>
                      </a:r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subcooling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before valve (3)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Leaving refrigerant abs. pressure (8) </a:t>
                      </a:r>
                      <a:r>
                        <a:rPr lang="en-US" sz="1100" b="0" i="0" u="none" strike="noStrike" baseline="300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psia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Leaving refrigerant temperature (8) 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Expected Heat rejection capacity</a:t>
                      </a:r>
                      <a:r>
                        <a:rPr lang="en-US" sz="1200" b="0" i="0" u="none" strike="noStrike" baseline="300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          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Btu/h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mass flow rate</a:t>
                      </a:r>
                      <a:r>
                        <a:rPr lang="en-US" sz="12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lbm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/h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Expected EER/COP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Leaving refrigerant superheat </a:t>
                      </a:r>
                      <a:r>
                        <a:rPr lang="en-US" sz="1200" b="0" i="0" u="none" strike="noStrike" baseline="3000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 dirty="0" err="1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side pressure drop limit</a:t>
                      </a:r>
                      <a:r>
                        <a:rPr lang="en-US" sz="1100" b="0" i="0" u="none" strike="noStrike" baseline="300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psid</a:t>
                      </a:r>
                      <a:endParaRPr lang="en-US" sz="1200" b="0" i="0" u="none" strike="noStrike" dirty="0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015620" y="532343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客户输入冷媒侧工况信息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15" y="1043277"/>
            <a:ext cx="4130666" cy="261904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604" y="1785422"/>
            <a:ext cx="5235897" cy="188341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015620" y="4403444"/>
            <a:ext cx="3024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Inlet P=</a:t>
            </a:r>
            <a:r>
              <a:rPr lang="en-US" altLang="zh-CN" dirty="0" err="1" smtClean="0"/>
              <a:t>OutletP+Pressure</a:t>
            </a:r>
            <a:r>
              <a:rPr lang="en-US" altLang="zh-CN" dirty="0" smtClean="0"/>
              <a:t> drop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458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959" y="524935"/>
            <a:ext cx="41640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冷媒侧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Boundary(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蒸发器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238614"/>
              </p:ext>
            </p:extLst>
          </p:nvPr>
        </p:nvGraphicFramePr>
        <p:xfrm>
          <a:off x="581309" y="3847722"/>
          <a:ext cx="4074412" cy="2546401"/>
        </p:xfrm>
        <a:graphic>
          <a:graphicData uri="http://schemas.openxmlformats.org/drawingml/2006/table">
            <a:tbl>
              <a:tblPr/>
              <a:tblGrid>
                <a:gridCol w="3297678"/>
                <a:gridCol w="776734"/>
              </a:tblGrid>
              <a:tr h="4164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abs. pressure before valve (3)</a:t>
                      </a:r>
                      <a:r>
                        <a:rPr lang="en-US" sz="1100" b="0" i="0" u="none" strike="noStrike" baseline="300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psia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7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temperature before valve (3)</a:t>
                      </a:r>
                      <a:r>
                        <a:rPr lang="en-US" sz="1100" b="0" i="0" u="none" strike="noStrike" baseline="300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 dirty="0" err="1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</a:t>
                      </a:r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subcooling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before valve (3)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Leaving refrigerant abs. pressure (8) </a:t>
                      </a:r>
                      <a:r>
                        <a:rPr lang="en-US" sz="1100" b="0" i="0" u="none" strike="noStrike" baseline="300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psia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Leaving refrigerant temperature (8) </a:t>
                      </a:r>
                      <a:r>
                        <a:rPr lang="en-US" sz="1100" b="0" i="0" u="none" strike="noStrike" baseline="300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Expected Heat rejection capacity</a:t>
                      </a:r>
                      <a:r>
                        <a:rPr lang="en-US" sz="1200" b="0" i="0" u="none" strike="noStrike" baseline="300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          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Btu/h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mass flow rate</a:t>
                      </a:r>
                      <a:r>
                        <a:rPr lang="en-US" sz="12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lbm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/h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Expected EER/COP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Leaving refrigerant superheat </a:t>
                      </a:r>
                      <a:r>
                        <a:rPr lang="en-US" sz="1200" b="0" i="0" u="none" strike="noStrike" baseline="3000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 dirty="0" err="1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side pressure drop limit</a:t>
                      </a:r>
                      <a:r>
                        <a:rPr lang="en-US" sz="1100" b="0" i="0" u="none" strike="noStrike" baseline="300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psid</a:t>
                      </a:r>
                      <a:endParaRPr lang="en-US" sz="1200" b="0" i="0" u="none" strike="noStrike" dirty="0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015620" y="532343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客户输入冷媒侧工况信息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49" y="1030744"/>
            <a:ext cx="3885714" cy="26380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216" y="1171153"/>
            <a:ext cx="5417905" cy="258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4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959" y="524935"/>
            <a:ext cx="41640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冷媒侧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Boundary(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蒸发器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192147"/>
              </p:ext>
            </p:extLst>
          </p:nvPr>
        </p:nvGraphicFramePr>
        <p:xfrm>
          <a:off x="581309" y="3847722"/>
          <a:ext cx="4074412" cy="2546401"/>
        </p:xfrm>
        <a:graphic>
          <a:graphicData uri="http://schemas.openxmlformats.org/drawingml/2006/table">
            <a:tbl>
              <a:tblPr/>
              <a:tblGrid>
                <a:gridCol w="3297678"/>
                <a:gridCol w="776734"/>
              </a:tblGrid>
              <a:tr h="4164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abs. pressure before valve (3)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psia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7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temperature before valve (3)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</a:t>
                      </a:r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subcooling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before valve (3)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Leaving refrigerant abs. pressure (8) </a:t>
                      </a:r>
                      <a:r>
                        <a:rPr lang="en-US" sz="1100" b="0" i="0" u="none" strike="noStrike" baseline="300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psia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Leaving refrigerant temperature (8) </a:t>
                      </a:r>
                      <a:r>
                        <a:rPr lang="en-US" sz="1100" b="0" i="0" u="none" strike="noStrike" baseline="300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Expected Heat rejection capacity</a:t>
                      </a:r>
                      <a:r>
                        <a:rPr lang="en-US" sz="1200" b="0" i="0" u="none" strike="noStrike" baseline="300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          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Btu/h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mass flow rate</a:t>
                      </a:r>
                      <a:r>
                        <a:rPr lang="en-US" sz="12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lbm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/h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Expected EER/COP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Leaving refrigerant superheat </a:t>
                      </a:r>
                      <a:r>
                        <a:rPr lang="en-US" sz="1200" b="0" i="0" u="none" strike="noStrike" baseline="3000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baseline="30000" dirty="0" err="1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en-US" sz="12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Refrigerant side pressure drop limit</a:t>
                      </a:r>
                      <a:r>
                        <a:rPr lang="en-US" sz="1100" b="0" i="0" u="none" strike="noStrike" baseline="300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200" b="0" i="0" u="none" strike="noStrike" dirty="0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psid</a:t>
                      </a:r>
                      <a:endParaRPr lang="en-US" sz="1200" b="0" i="0" u="none" strike="noStrike" dirty="0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015620" y="532343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客户输入冷媒侧工况信息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63" y="986600"/>
            <a:ext cx="3914286" cy="26380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115" y="1705443"/>
            <a:ext cx="5729075" cy="191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6687" y="491763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关联式（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冷凝器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97513" y="589099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关联式对应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194" y="1269208"/>
            <a:ext cx="5557621" cy="444976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375" y="1269208"/>
            <a:ext cx="2963196" cy="17003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3375" y="3098840"/>
            <a:ext cx="2963196" cy="139635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375" y="4624498"/>
            <a:ext cx="2963196" cy="134984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218" y="1269208"/>
            <a:ext cx="2617416" cy="144683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218" y="2847166"/>
            <a:ext cx="2638084" cy="152565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202" y="4583734"/>
            <a:ext cx="2649875" cy="1349844"/>
          </a:xfrm>
          <a:prstGeom prst="rect">
            <a:avLst/>
          </a:prstGeom>
        </p:spPr>
      </p:pic>
      <p:cxnSp>
        <p:nvCxnSpPr>
          <p:cNvPr id="16" name="直接箭头连接符 15"/>
          <p:cNvCxnSpPr/>
          <p:nvPr/>
        </p:nvCxnSpPr>
        <p:spPr>
          <a:xfrm flipV="1">
            <a:off x="6255945" y="1982709"/>
            <a:ext cx="2055136" cy="9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6437014" y="2290527"/>
            <a:ext cx="1883121" cy="1493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5839485" y="3204927"/>
            <a:ext cx="2471596" cy="2154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 flipV="1">
            <a:off x="2679826" y="1846907"/>
            <a:ext cx="1394233" cy="1593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 flipV="1">
            <a:off x="2661719" y="3485584"/>
            <a:ext cx="1466661" cy="633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>
            <a:off x="2679826" y="4372824"/>
            <a:ext cx="1466661" cy="389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69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68703" y="473656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关联式（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蒸发器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90504" y="567200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关联式对应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128" y="1100822"/>
            <a:ext cx="5175580" cy="453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40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11494" y="417552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客户输入样品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尺寸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下箭头 3"/>
          <p:cNvSpPr/>
          <p:nvPr/>
        </p:nvSpPr>
        <p:spPr>
          <a:xfrm>
            <a:off x="2489702" y="2227152"/>
            <a:ext cx="443620" cy="17292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212">
            <a:extLst>
              <a:ext uri="{FF2B5EF4-FFF2-40B4-BE49-F238E27FC236}">
                <a16:creationId xmlns:xdr="http://schemas.openxmlformats.org/drawingml/2006/spreadsheetDrawing" xmlns="" xmlns:a16="http://schemas.microsoft.com/office/drawing/2014/main" xmlns:lc="http://schemas.openxmlformats.org/drawingml/2006/lockedCanvas" id="{1C9D6FEC-1ACE-8675-2356-93FFEF345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074" y="3956364"/>
            <a:ext cx="2395257" cy="2319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2146535" y="9051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蒸发器</a:t>
            </a:r>
            <a:endParaRPr lang="zh-CN" altLang="en-US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621398"/>
              </p:ext>
            </p:extLst>
          </p:nvPr>
        </p:nvGraphicFramePr>
        <p:xfrm>
          <a:off x="6019284" y="1265412"/>
          <a:ext cx="5911912" cy="959667"/>
        </p:xfrm>
        <a:graphic>
          <a:graphicData uri="http://schemas.openxmlformats.org/drawingml/2006/table">
            <a:tbl>
              <a:tblPr/>
              <a:tblGrid>
                <a:gridCol w="1360821"/>
                <a:gridCol w="648868"/>
                <a:gridCol w="2622510"/>
                <a:gridCol w="1279713"/>
              </a:tblGrid>
              <a:tr h="319889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Available Space for the Coil </a:t>
                      </a:r>
                      <a:r>
                        <a:rPr lang="en-US" sz="1050" b="0" i="1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(Please provide coil </a:t>
                      </a:r>
                      <a:r>
                        <a:rPr lang="en-US" sz="1050" b="0" i="1" u="none" strike="noStrike" dirty="0" err="1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dwg</a:t>
                      </a:r>
                      <a:r>
                        <a:rPr lang="en-US" sz="1050" b="0" i="1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if possible)</a:t>
                      </a:r>
                      <a:endParaRPr lang="en-US" sz="1050" b="1" i="0" u="none" strike="noStrike" dirty="0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198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Length (L)</a:t>
                      </a:r>
                      <a:r>
                        <a:rPr lang="en-US" sz="1050" b="0" i="0" u="none" strike="noStrike" baseline="300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050" b="0" i="0" u="none" strike="noStrike" dirty="0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mm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600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98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Header Height (H)</a:t>
                      </a:r>
                      <a:r>
                        <a:rPr lang="en-US" sz="1050" b="0" i="0" u="none" strike="noStrike" baseline="300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★</a:t>
                      </a:r>
                      <a:endParaRPr lang="en-US" sz="1050" b="0" i="0" u="none" strike="noStrike" dirty="0"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mm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b="0" i="0" u="none" strike="noStrike" dirty="0"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600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下箭头 14"/>
          <p:cNvSpPr/>
          <p:nvPr/>
        </p:nvSpPr>
        <p:spPr>
          <a:xfrm>
            <a:off x="8789406" y="2227152"/>
            <a:ext cx="443620" cy="17292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8"/>
          <a:stretch>
            <a:fillRect/>
          </a:stretch>
        </p:blipFill>
        <p:spPr bwMode="auto">
          <a:xfrm>
            <a:off x="7418403" y="4101220"/>
            <a:ext cx="3355222" cy="2321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文本框 16"/>
          <p:cNvSpPr txBox="1"/>
          <p:nvPr/>
        </p:nvSpPr>
        <p:spPr>
          <a:xfrm>
            <a:off x="8536659" y="93841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冷凝器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3874883" y="3232086"/>
            <a:ext cx="466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需根据输入芯体长宽计算扁管翅片个数，</a:t>
            </a:r>
            <a:r>
              <a:rPr lang="zh-CN" altLang="en-US" b="1" dirty="0" smtClean="0">
                <a:solidFill>
                  <a:srgbClr val="FF0000"/>
                </a:solidFill>
              </a:rPr>
              <a:t>注意单位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010" y="1274466"/>
            <a:ext cx="5572624" cy="9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18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11494" y="417552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期望输出表单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57682" y="1249497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流程示意（</a:t>
            </a:r>
            <a:r>
              <a:rPr lang="zh-CN" altLang="en-US" b="1" dirty="0" smtClean="0">
                <a:solidFill>
                  <a:srgbClr val="FF0000"/>
                </a:solidFill>
              </a:rPr>
              <a:t>风向、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排数、流程数、冷媒流向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22" name="右箭头 21"/>
          <p:cNvSpPr/>
          <p:nvPr/>
        </p:nvSpPr>
        <p:spPr>
          <a:xfrm>
            <a:off x="7238199" y="1357161"/>
            <a:ext cx="1597793" cy="1540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右箭头 23"/>
          <p:cNvSpPr/>
          <p:nvPr/>
        </p:nvSpPr>
        <p:spPr>
          <a:xfrm>
            <a:off x="7332398" y="2943724"/>
            <a:ext cx="1597793" cy="1540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>
            <a:off x="7332398" y="4560948"/>
            <a:ext cx="1597793" cy="1540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/>
        </p:nvSpPr>
        <p:spPr>
          <a:xfrm>
            <a:off x="7359889" y="5932186"/>
            <a:ext cx="1597793" cy="1540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957682" y="283606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样品尺寸明细</a:t>
            </a:r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8957682" y="442262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冷媒侧参数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9028497" y="582452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空气侧参数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527233" y="498845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单位可切换英制、公制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743" y="47123"/>
            <a:ext cx="3619048" cy="6485714"/>
          </a:xfrm>
          <a:prstGeom prst="rect">
            <a:avLst/>
          </a:prstGeom>
        </p:spPr>
      </p:pic>
      <p:cxnSp>
        <p:nvCxnSpPr>
          <p:cNvPr id="7" name="直接箭头连接符 6"/>
          <p:cNvCxnSpPr>
            <a:endCxn id="34" idx="3"/>
          </p:cNvCxnSpPr>
          <p:nvPr/>
        </p:nvCxnSpPr>
        <p:spPr>
          <a:xfrm flipH="1">
            <a:off x="3020223" y="5173125"/>
            <a:ext cx="21764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1867661" y="494826"/>
            <a:ext cx="2018922" cy="768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697626" y="557720"/>
            <a:ext cx="783839" cy="569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539089" y="161882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日期</a:t>
            </a:r>
            <a:endParaRPr lang="zh-CN" altLang="en-US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486" y="308994"/>
            <a:ext cx="2529498" cy="125793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199" y="277301"/>
            <a:ext cx="1942021" cy="97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26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65324" y="2477089"/>
            <a:ext cx="306135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3959"/>
            <a:ext cx="12192000" cy="217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1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24179</TotalTime>
  <Words>813</Words>
  <Application>Microsoft Office PowerPoint</Application>
  <PresentationFormat>宽屏</PresentationFormat>
  <Paragraphs>191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宋体</vt:lpstr>
      <vt:lpstr>微软雅黑</vt:lpstr>
      <vt:lpstr>Arial</vt:lpstr>
      <vt:lpstr>Calibri</vt:lpstr>
      <vt:lpstr>Calibri Light</vt:lpstr>
      <vt:lpstr>Verdana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donglx(董凌旭)</dc:creator>
  <cp:lastModifiedBy>zhanggy(张广源）</cp:lastModifiedBy>
  <cp:revision>479</cp:revision>
  <cp:lastPrinted>2025-03-27T03:08:17Z</cp:lastPrinted>
  <dcterms:created xsi:type="dcterms:W3CDTF">2024-10-30T06:53:07Z</dcterms:created>
  <dcterms:modified xsi:type="dcterms:W3CDTF">2026-09-04T06:19:46Z</dcterms:modified>
</cp:coreProperties>
</file>